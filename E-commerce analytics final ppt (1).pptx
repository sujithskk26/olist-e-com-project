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9" r:id="rId3"/>
    <p:sldId id="276" r:id="rId4"/>
    <p:sldId id="257" r:id="rId5"/>
    <p:sldId id="258" r:id="rId6"/>
    <p:sldId id="259" r:id="rId7"/>
    <p:sldId id="277" r:id="rId8"/>
    <p:sldId id="279" r:id="rId9"/>
    <p:sldId id="283" r:id="rId10"/>
    <p:sldId id="286" r:id="rId11"/>
    <p:sldId id="287" r:id="rId12"/>
    <p:sldId id="291" r:id="rId13"/>
    <p:sldId id="292" r:id="rId14"/>
    <p:sldId id="293" r:id="rId15"/>
    <p:sldId id="294" r:id="rId16"/>
    <p:sldId id="285" r:id="rId17"/>
    <p:sldId id="260" r:id="rId18"/>
    <p:sldId id="284" r:id="rId19"/>
    <p:sldId id="290" r:id="rId20"/>
    <p:sldId id="295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7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50E8-7ADA-4DA5-8070-6A7D632EB2F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53A5F-1A0F-4805-90A5-412CE10AB7F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/>
          <p:cNvSpPr/>
          <p:nvPr/>
        </p:nvSpPr>
        <p:spPr>
          <a:xfrm>
            <a:off x="5334788" y="0"/>
            <a:ext cx="6857212" cy="6858000"/>
          </a:xfrm>
          <a:custGeom>
            <a:avLst/>
            <a:gdLst>
              <a:gd name="connsiteX0" fmla="*/ 3488892 w 6857212"/>
              <a:gd name="connsiteY0" fmla="*/ 2628892 h 6858000"/>
              <a:gd name="connsiteX1" fmla="*/ 5858567 w 6857212"/>
              <a:gd name="connsiteY1" fmla="*/ 6857999 h 6858000"/>
              <a:gd name="connsiteX2" fmla="*/ 1119219 w 6857212"/>
              <a:gd name="connsiteY2" fmla="*/ 6857999 h 6858000"/>
              <a:gd name="connsiteX3" fmla="*/ 5061656 w 6857212"/>
              <a:gd name="connsiteY3" fmla="*/ 0 h 6858000"/>
              <a:gd name="connsiteX4" fmla="*/ 6857212 w 6857212"/>
              <a:gd name="connsiteY4" fmla="*/ 0 h 6858000"/>
              <a:gd name="connsiteX5" fmla="*/ 6857212 w 6857212"/>
              <a:gd name="connsiteY5" fmla="*/ 6858000 h 6858000"/>
              <a:gd name="connsiteX6" fmla="*/ 6190541 w 6857212"/>
              <a:gd name="connsiteY6" fmla="*/ 6858000 h 6858000"/>
              <a:gd name="connsiteX7" fmla="*/ 3620130 w 6857212"/>
              <a:gd name="connsiteY7" fmla="*/ 2464143 h 6858000"/>
              <a:gd name="connsiteX8" fmla="*/ 0 w 6857212"/>
              <a:gd name="connsiteY8" fmla="*/ 0 h 6858000"/>
              <a:gd name="connsiteX9" fmla="*/ 4739347 w 6857212"/>
              <a:gd name="connsiteY9" fmla="*/ 0 h 6858000"/>
              <a:gd name="connsiteX10" fmla="*/ 2369674 w 6857212"/>
              <a:gd name="connsiteY10" fmla="*/ 42291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212" h="6858000">
                <a:moveTo>
                  <a:pt x="3488892" y="2628892"/>
                </a:moveTo>
                <a:lnTo>
                  <a:pt x="5858567" y="6857999"/>
                </a:lnTo>
                <a:lnTo>
                  <a:pt x="1119219" y="6857999"/>
                </a:lnTo>
                <a:close/>
                <a:moveTo>
                  <a:pt x="5061656" y="0"/>
                </a:moveTo>
                <a:lnTo>
                  <a:pt x="6857212" y="0"/>
                </a:lnTo>
                <a:lnTo>
                  <a:pt x="6857212" y="6858000"/>
                </a:lnTo>
                <a:lnTo>
                  <a:pt x="6190541" y="6858000"/>
                </a:lnTo>
                <a:lnTo>
                  <a:pt x="3620130" y="2464143"/>
                </a:lnTo>
                <a:close/>
                <a:moveTo>
                  <a:pt x="0" y="0"/>
                </a:moveTo>
                <a:lnTo>
                  <a:pt x="4739347" y="0"/>
                </a:lnTo>
                <a:lnTo>
                  <a:pt x="2369674" y="4229106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50000" t="-1000" r="-18000"/>
            </a:stretch>
          </a:blip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882640" y="0"/>
            <a:ext cx="3677920" cy="3261360"/>
          </a:xfrm>
          <a:prstGeom prst="triangl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/>
          <p:cNvSpPr/>
          <p:nvPr/>
        </p:nvSpPr>
        <p:spPr>
          <a:xfrm>
            <a:off x="6964143" y="3596640"/>
            <a:ext cx="3677920" cy="3261360"/>
          </a:xfrm>
          <a:prstGeom prst="triangl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5948680" y="822960"/>
            <a:ext cx="9824720" cy="3261360"/>
          </a:xfrm>
          <a:prstGeom prst="triangl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0" y="689790"/>
            <a:ext cx="8575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err="1">
                <a:solidFill>
                  <a:srgbClr val="FFC000"/>
                </a:solidFill>
                <a:effectLst>
                  <a:outerShdw blurRad="139700" dist="38100" dir="2700000" algn="tl" rotWithShape="0">
                    <a:prstClr val="black">
                      <a:alpha val="59000"/>
                    </a:prstClr>
                  </a:outerShdw>
                </a:effectLst>
                <a:latin typeface="Arial Rounded MT Bold" panose="020F0704030504030204" pitchFamily="34" charset="0"/>
                <a:ea typeface="Roboto" panose="02000000000000000000" pitchFamily="2" charset="0"/>
              </a:rPr>
              <a:t>Olist</a:t>
            </a:r>
            <a:endParaRPr lang="en-US" sz="7200" b="1" dirty="0">
              <a:solidFill>
                <a:srgbClr val="FFC000"/>
              </a:solidFill>
              <a:effectLst>
                <a:outerShdw blurRad="139700" dist="38100" dir="2700000" algn="tl" rotWithShape="0">
                  <a:prstClr val="black">
                    <a:alpha val="59000"/>
                  </a:prstClr>
                </a:outerShdw>
              </a:effectLst>
              <a:latin typeface="Arial Rounded MT Bold" panose="020F0704030504030204" pitchFamily="34" charset="0"/>
              <a:ea typeface="Roboto" panose="02000000000000000000" pitchFamily="2" charset="0"/>
            </a:endParaRPr>
          </a:p>
          <a:p>
            <a:r>
              <a:rPr lang="en-US" sz="7200" b="1" dirty="0">
                <a:solidFill>
                  <a:srgbClr val="FFC000"/>
                </a:solidFill>
                <a:effectLst>
                  <a:outerShdw blurRad="139700" dist="38100" dir="2700000" algn="tl" rotWithShape="0">
                    <a:prstClr val="black">
                      <a:alpha val="59000"/>
                    </a:prstClr>
                  </a:outerShdw>
                </a:effectLst>
                <a:latin typeface="Arial Rounded MT Bold" panose="020F0704030504030204" pitchFamily="34" charset="0"/>
                <a:ea typeface="Roboto" panose="02000000000000000000" pitchFamily="2" charset="0"/>
              </a:rPr>
              <a:t>E-COMMERCE</a:t>
            </a:r>
            <a:endParaRPr lang="en-IN" sz="7200" b="1" dirty="0">
              <a:solidFill>
                <a:srgbClr val="FFC000"/>
              </a:solidFill>
              <a:effectLst>
                <a:outerShdw blurRad="139700" dist="38100" dir="2700000" algn="tl" rotWithShape="0">
                  <a:prstClr val="black">
                    <a:alpha val="59000"/>
                  </a:prstClr>
                </a:outerShdw>
              </a:effectLst>
              <a:latin typeface="Arial Rounded MT Bold" panose="020F0704030504030204" pitchFamily="34" charset="0"/>
              <a:ea typeface="Roboto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794022" y="2792020"/>
            <a:ext cx="67027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ANALYTICS</a:t>
            </a:r>
            <a:endParaRPr lang="en-IN" sz="4000" b="1" dirty="0">
              <a:solidFill>
                <a:schemeClr val="bg1"/>
              </a:solidFill>
              <a:effectLst>
                <a:outerShdw blurRad="50800" dist="88900" dir="16200000" rotWithShape="0">
                  <a:prstClr val="black">
                    <a:alpha val="54000"/>
                  </a:prstClr>
                </a:outerShdw>
              </a:effectLs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78183" y="4305815"/>
            <a:ext cx="4180115" cy="2738525"/>
            <a:chOff x="1221437" y="4392511"/>
            <a:chExt cx="4180115" cy="2738525"/>
          </a:xfrm>
        </p:grpSpPr>
        <p:sp>
          <p:nvSpPr>
            <p:cNvPr id="18" name="TextBox 17"/>
            <p:cNvSpPr txBox="1"/>
            <p:nvPr/>
          </p:nvSpPr>
          <p:spPr>
            <a:xfrm>
              <a:off x="1221437" y="4392511"/>
              <a:ext cx="4180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Members (Group-4):</a:t>
              </a:r>
              <a:endParaRPr lang="en-US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1437" y="4824081"/>
              <a:ext cx="3656965" cy="2306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Riya Jitendra vishwakarma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Nikhil Rohidas Naik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Siddesh satish kadam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 err="1">
                  <a:solidFill>
                    <a:schemeClr val="bg1"/>
                  </a:solidFill>
                </a:rPr>
                <a:t>Medabala</a:t>
              </a:r>
              <a:r>
                <a:rPr lang="en-US" dirty="0">
                  <a:solidFill>
                    <a:schemeClr val="bg1"/>
                  </a:solidFill>
                </a:rPr>
                <a:t> Sujith Kamal Kumar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Akshata P sutar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Harshada Arvind chavan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Tammisetty Joji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833892" y="5842711"/>
            <a:ext cx="2448682" cy="738664"/>
            <a:chOff x="4157292" y="5829582"/>
            <a:chExt cx="2448682" cy="738664"/>
          </a:xfrm>
        </p:grpSpPr>
        <p:sp>
          <p:nvSpPr>
            <p:cNvPr id="20" name="TextBox 19"/>
            <p:cNvSpPr txBox="1"/>
            <p:nvPr/>
          </p:nvSpPr>
          <p:spPr>
            <a:xfrm>
              <a:off x="4157292" y="5829582"/>
              <a:ext cx="17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Mentor Name:</a:t>
              </a:r>
              <a:endParaRPr lang="en-US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06756" y="6198914"/>
              <a:ext cx="23992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chemeClr val="bg1"/>
                  </a:solidFill>
                </a:rPr>
                <a:t>Dipti Sinha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2673943" y="103327"/>
            <a:ext cx="6844114" cy="7456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TABLE OF CONTENTS</a:t>
            </a:r>
            <a:endParaRPr lang="en-US" sz="3600" b="1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21617" y="871498"/>
            <a:ext cx="913705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INTRODUCTION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DATASETS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PROJECT PROCESS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TOOLS USED FOR ANALYSIS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KPI’S 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DASHBOARD IMAGES (EXCEL, TABLEAU, POWER BI)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INSIGHTS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RECOMMENDATIONS</a:t>
            </a:r>
          </a:p>
          <a:p>
            <a:endParaRPr lang="en-US" sz="22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Metropolis Medium" panose="00000600000000000000" pitchFamily="50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3297" y="761011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01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62291" y="1421389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13297" y="1471853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02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2271759" y="2092235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13297" y="2140613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03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271759" y="2741991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13297" y="2788034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04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262291" y="3429000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13297" y="3476683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05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2252489" y="4061458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13297" y="4151950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06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271759" y="4740942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13297" y="4811919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07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2271759" y="5440174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13297" y="5470142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08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2252574" y="6084884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271759" y="6719253"/>
            <a:ext cx="88963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13297" y="6135476"/>
            <a:ext cx="109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Metropolis Medium" panose="00000600000000000000" pitchFamily="50" charset="0"/>
              </a:rPr>
              <a:t>09</a:t>
            </a:r>
            <a:endParaRPr lang="en-IN" sz="32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719110" y="372117"/>
            <a:ext cx="4753779" cy="7456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INTRODUCTION</a:t>
            </a:r>
            <a:endParaRPr lang="en-US" b="1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225" y="1243330"/>
            <a:ext cx="10785475" cy="4928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Overview: </a:t>
            </a: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The project analyzes e-commerce data to understand sales, customers, products, payments, and delivery performance.An interactive dashboard converts raw data into clear and actionable business insights.</a:t>
            </a:r>
          </a:p>
          <a:p>
            <a:endParaRPr lang="en-US" altLang="en-US" sz="20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Objective: </a:t>
            </a: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To identify important trends and KPIs that influence e-commerce business performance.To support data-driven decisions by analyzing customer behavior, sales, and operational efficiency.</a:t>
            </a:r>
          </a:p>
          <a:p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Company Background: </a:t>
            </a: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E-commerce platforms generate large amounts of data from orders, customers, products, payments, and reviews.Analyzing this data helps businesses understand performance, improve operations, and increase customer satisfaction.</a:t>
            </a:r>
          </a:p>
          <a:p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Market Position: </a:t>
            </a: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Analytics helps e-commerce businesses monitor performance, identify growth opportunities, improve customer retention, optimize sales strategies, and make data-driven decisions.</a:t>
            </a:r>
          </a:p>
          <a:p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9135" y="2033528"/>
            <a:ext cx="49844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Metropolis Medium" panose="00000600000000000000" pitchFamily="50" charset="0"/>
              </a:rPr>
              <a:t>olist_orders_dataset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olist_order_items_dataset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olist_order_payments_dataset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olist_order_reviews_dataset</a:t>
            </a:r>
          </a:p>
          <a:p>
            <a:pPr indent="457200"/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olist_customers_dataset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6" y="2033528"/>
            <a:ext cx="3943349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Metropolis Medium" panose="00000600000000000000" pitchFamily="50" charset="0"/>
              </a:rPr>
              <a:t>olist_products_dataset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olist_sellers_dataset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>
                <a:latin typeface="Metropolis Medium" panose="00000600000000000000" pitchFamily="50" charset="0"/>
              </a:rPr>
              <a:t>olist_geolocation_dataset</a:t>
            </a:r>
          </a:p>
          <a:p>
            <a:endParaRPr lang="en-US" altLang="en-US" sz="2400" dirty="0">
              <a:latin typeface="Metropolis Medium" panose="00000600000000000000" pitchFamily="50" charset="0"/>
            </a:endParaRPr>
          </a:p>
          <a:p>
            <a:r>
              <a:rPr lang="en-US" altLang="en-US" sz="2400" dirty="0" err="1">
                <a:latin typeface="Metropolis Medium" panose="00000600000000000000" pitchFamily="50" charset="0"/>
              </a:rPr>
              <a:t>product_category_name_translation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0" y="1904660"/>
            <a:ext cx="533740" cy="5337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0" y="2647863"/>
            <a:ext cx="533740" cy="5337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0" y="3391066"/>
            <a:ext cx="533740" cy="5337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0" y="4130408"/>
            <a:ext cx="533740" cy="5337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0" y="4869750"/>
            <a:ext cx="533740" cy="5337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85" y="1904660"/>
            <a:ext cx="533740" cy="53374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85" y="2647863"/>
            <a:ext cx="533740" cy="5337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85" y="3391066"/>
            <a:ext cx="533740" cy="53374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85" y="4130408"/>
            <a:ext cx="533740" cy="533740"/>
          </a:xfrm>
          <a:prstGeom prst="rect">
            <a:avLst/>
          </a:prstGeom>
        </p:spPr>
      </p:pic>
      <p:sp>
        <p:nvSpPr>
          <p:cNvPr id="25" name="Isosceles Triangle 24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/>
          <p:cNvSpPr/>
          <p:nvPr/>
        </p:nvSpPr>
        <p:spPr>
          <a:xfrm>
            <a:off x="4036048" y="185198"/>
            <a:ext cx="3415053" cy="9292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DATASETS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3050275" y="635539"/>
            <a:ext cx="7787487" cy="9221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PROJECT PROCESS</a:t>
            </a:r>
            <a:endParaRPr lang="en-US" sz="6000" b="1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463333" y="2503504"/>
            <a:ext cx="3265334" cy="3257895"/>
            <a:chOff x="4314548" y="2343705"/>
            <a:chExt cx="3896957" cy="3888079"/>
          </a:xfrm>
        </p:grpSpPr>
        <p:sp>
          <p:nvSpPr>
            <p:cNvPr id="6" name="Rectangle: Diagonal Corners Snipped 5"/>
            <p:cNvSpPr/>
            <p:nvPr/>
          </p:nvSpPr>
          <p:spPr>
            <a:xfrm>
              <a:off x="4314548" y="2343705"/>
              <a:ext cx="1872848" cy="1872848"/>
            </a:xfrm>
            <a:prstGeom prst="snip2Diag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: Diagonal Corners Snipped 6"/>
            <p:cNvSpPr/>
            <p:nvPr/>
          </p:nvSpPr>
          <p:spPr>
            <a:xfrm>
              <a:off x="6338657" y="4358936"/>
              <a:ext cx="1872848" cy="1872848"/>
            </a:xfrm>
            <a:prstGeom prst="snip2Diag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Diagonal Corners Snipped 7"/>
            <p:cNvSpPr/>
            <p:nvPr/>
          </p:nvSpPr>
          <p:spPr>
            <a:xfrm flipV="1">
              <a:off x="6338657" y="2343705"/>
              <a:ext cx="1872848" cy="1872848"/>
            </a:xfrm>
            <a:prstGeom prst="snip2Diag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: Diagonal Corners Snipped 8"/>
            <p:cNvSpPr/>
            <p:nvPr/>
          </p:nvSpPr>
          <p:spPr>
            <a:xfrm flipV="1">
              <a:off x="4314548" y="4358936"/>
              <a:ext cx="1872848" cy="1872848"/>
            </a:xfrm>
            <a:prstGeom prst="snip2Diag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500979" y="2734153"/>
            <a:ext cx="14559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1</a:t>
            </a:r>
            <a:endParaRPr lang="en-IN" sz="6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216050" y="2734153"/>
            <a:ext cx="14559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2</a:t>
            </a:r>
            <a:endParaRPr lang="en-IN" sz="6600" b="1" dirty="0">
              <a:solidFill>
                <a:srgbClr val="FFC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0979" y="4420911"/>
            <a:ext cx="14559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3</a:t>
            </a:r>
            <a:endParaRPr lang="en-IN" sz="6600" b="1" dirty="0">
              <a:solidFill>
                <a:srgbClr val="FFC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6050" y="4420911"/>
            <a:ext cx="14559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/>
              <a:t>4</a:t>
            </a:r>
            <a:endParaRPr lang="en-IN" sz="6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13073" y="2512670"/>
            <a:ext cx="3226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Extract Data:</a:t>
            </a:r>
            <a:endParaRPr lang="en-IN" sz="20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70485" y="2903855"/>
            <a:ext cx="4368553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1500" dirty="0">
                <a:solidFill>
                  <a:schemeClr val="bg1"/>
                </a:solidFill>
                <a:latin typeface="Metropolis Medium" panose="00000600000000000000" pitchFamily="50" charset="0"/>
              </a:rPr>
              <a:t>Collected and extracted the 9 Olist e-commerce datasets containing orders, customers, products, payments, reviews, sellers, and location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073" y="4201270"/>
            <a:ext cx="3226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KPI &amp; Visualization:</a:t>
            </a:r>
            <a:endParaRPr lang="en-IN" sz="20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3350" y="4616585"/>
            <a:ext cx="4006603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1500" dirty="0">
                <a:solidFill>
                  <a:schemeClr val="bg1"/>
                </a:solidFill>
                <a:latin typeface="Metropolis Medium" panose="00000600000000000000" pitchFamily="50" charset="0"/>
              </a:rPr>
              <a:t>Calculated key metrics such as total orders, sales, payment value, delivery time, and review scores, then represented them using charts and graphs.</a:t>
            </a:r>
            <a:r>
              <a:rPr lang="en-US" sz="1500" dirty="0">
                <a:solidFill>
                  <a:schemeClr val="bg1"/>
                </a:solidFill>
                <a:latin typeface="Metropolis Medium" panose="00000600000000000000" pitchFamily="50" charset="0"/>
              </a:rPr>
              <a:t>.</a:t>
            </a:r>
            <a:endParaRPr lang="en-IN" sz="1500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52047" y="2503504"/>
            <a:ext cx="2610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Transformation:</a:t>
            </a:r>
            <a:endParaRPr lang="en-IN" sz="20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52046" y="2918819"/>
            <a:ext cx="4063753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500" dirty="0">
                <a:solidFill>
                  <a:schemeClr val="bg1"/>
                </a:solidFill>
                <a:latin typeface="Metropolis Medium" panose="00000600000000000000" pitchFamily="50" charset="0"/>
              </a:rPr>
              <a:t>Cleaned the data, handled missing values and duplicates, transformed data types, and joined related datasets using common keys.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2047" y="4192104"/>
            <a:ext cx="2610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Metropolis Medium" panose="00000600000000000000" pitchFamily="50" charset="0"/>
              </a:rPr>
              <a:t>Dashboard:</a:t>
            </a:r>
            <a:endParaRPr lang="en-IN" sz="2000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52046" y="4607419"/>
            <a:ext cx="3305939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500" dirty="0">
                <a:solidFill>
                  <a:schemeClr val="bg1"/>
                </a:solidFill>
                <a:latin typeface="Metropolis Medium" panose="00000600000000000000" pitchFamily="50" charset="0"/>
              </a:rPr>
              <a:t>Developed an interactive dashboard with KPIs, visualizations, filters, and business insights to support data-driven decision-making.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784807" y="311689"/>
            <a:ext cx="8622384" cy="9221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Metropolis Medium" panose="00000600000000000000" pitchFamily="50" charset="0"/>
              </a:rPr>
              <a:t>TOOLS USED FOR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338" y="1173738"/>
            <a:ext cx="2484798" cy="2484798"/>
          </a:xfrm>
          <a:prstGeom prst="rect">
            <a:avLst/>
          </a:prstGeom>
        </p:spPr>
      </p:pic>
      <p:pic>
        <p:nvPicPr>
          <p:cNvPr id="5" name="Picture 4" descr="Power BI Logo, symbol, meaning, history, PNG, bra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73"/>
          <a:stretch>
            <a:fillRect/>
          </a:stretch>
        </p:blipFill>
        <p:spPr bwMode="auto">
          <a:xfrm>
            <a:off x="6164143" y="4136886"/>
            <a:ext cx="4073188" cy="189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874" y="1550951"/>
            <a:ext cx="1730372" cy="17303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7876" y="3429000"/>
            <a:ext cx="153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EXCEL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7216376" y="5963143"/>
            <a:ext cx="2134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 BI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30" name="Picture 6" descr="What is Tableau and Tableau Product Suite | 01">
            <a:extLst>
              <a:ext uri="{FF2B5EF4-FFF2-40B4-BE49-F238E27FC236}">
                <a16:creationId xmlns:a16="http://schemas.microsoft.com/office/drawing/2014/main" id="{D1BDEB9D-8BE1-FF9A-A555-5BA01A15C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97" y="4360244"/>
            <a:ext cx="3399925" cy="204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78517" y="107576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000" b="1" dirty="0">
                <a:solidFill>
                  <a:schemeClr val="bg1"/>
                </a:solidFill>
                <a:latin typeface="Metropolis Medium" panose="00000600000000000000" pitchFamily="50" charset="0"/>
              </a:rPr>
              <a:t>Business Performance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2475" y="948429"/>
            <a:ext cx="76295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Key Performance Indicators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Total Orders: 99,441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Total Customers: 99,441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Total Payment Value: R$16.01M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Total Item Sales: R$13.59M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Total Order Items: 112,650</a:t>
            </a:r>
          </a:p>
          <a:p>
            <a:endParaRPr lang="en-US" u="sng" dirty="0">
              <a:solidFill>
                <a:srgbClr val="FFC000"/>
              </a:solidFill>
              <a:latin typeface="Metropolis Medium" panose="00000600000000000000" pitchFamily="50" charset="0"/>
            </a:endParaRPr>
          </a:p>
          <a:p>
            <a:r>
              <a:rPr 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Observation :</a:t>
            </a:r>
          </a:p>
          <a:p>
            <a:pPr indent="0">
              <a:buFont typeface="+mj-lt"/>
              <a:buNone/>
            </a:pPr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The dataset contains nearly 100K orders and customers, generating more than R$16 million in total payment value. The volume of transactions indicates a large and diverse e-commerce operation.</a:t>
            </a:r>
          </a:p>
          <a:p>
            <a:pPr indent="0">
              <a:buFont typeface="+mj-lt"/>
              <a:buNone/>
            </a:pPr>
            <a:r>
              <a:rPr 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Conclusion :</a:t>
            </a:r>
          </a:p>
          <a:p>
            <a:endParaRPr lang="en-US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indent="0">
              <a:buFont typeface="+mj-lt"/>
              <a:buNone/>
            </a:pPr>
            <a:r>
              <a:rPr lang="en-US" altLang="en-US" dirty="0">
                <a:solidFill>
                  <a:schemeClr val="bg1"/>
                </a:solidFill>
                <a:latin typeface="Metropolis Medium" panose="00000600000000000000" pitchFamily="50" charset="0"/>
              </a:rPr>
              <a:t>The business has a strong transaction volume and significant sales activity, providing a large data foundation for analyzing customer behavior, sales performance, and business growth.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5193" r="14138" b="7215"/>
          <a:stretch>
            <a:fillRect/>
          </a:stretch>
        </p:blipFill>
        <p:spPr>
          <a:xfrm>
            <a:off x="314325" y="1590589"/>
            <a:ext cx="3829050" cy="3676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566" t="1207" r="8164"/>
          <a:stretch>
            <a:fillRect/>
          </a:stretch>
        </p:blipFill>
        <p:spPr>
          <a:xfrm>
            <a:off x="238125" y="1781656"/>
            <a:ext cx="3914775" cy="3294687"/>
          </a:xfrm>
          <a:prstGeom prst="rect">
            <a:avLst/>
          </a:prstGeom>
        </p:spPr>
      </p:pic>
      <p:sp>
        <p:nvSpPr>
          <p:cNvPr id="2" name="Title 1"/>
          <p:cNvSpPr txBox="1"/>
          <p:nvPr/>
        </p:nvSpPr>
        <p:spPr>
          <a:xfrm>
            <a:off x="1302342" y="107576"/>
            <a:ext cx="10013358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KPI 2: </a:t>
            </a:r>
            <a:r>
              <a:rPr lang="en-US" sz="3000" b="1" dirty="0">
                <a:solidFill>
                  <a:schemeClr val="bg1"/>
                </a:solidFill>
                <a:latin typeface="Metropolis Medium" panose="00000600000000000000" pitchFamily="50" charset="0"/>
              </a:rPr>
              <a:t>Number of orders with review score 5 and payment type credit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1025" y="1374514"/>
            <a:ext cx="76295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Key Performance Indicators: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Average Delivery Time: Measure of logistics efficiency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Average Review Score: Measure of customer satisfaction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5-Star Review Rate: Highly satisfied customers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Weekday vs Weekend Sales: Identifies purchasing patterns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Payment Method: Identifies customer payment preferences</a:t>
            </a:r>
          </a:p>
          <a:p>
            <a:endParaRPr lang="en-US" u="sng" dirty="0">
              <a:solidFill>
                <a:srgbClr val="FFC000"/>
              </a:solidFill>
              <a:latin typeface="Metropolis Medium" panose="00000600000000000000" pitchFamily="50" charset="0"/>
            </a:endParaRPr>
          </a:p>
          <a:p>
            <a:r>
              <a:rPr 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Observation:</a:t>
            </a:r>
          </a:p>
          <a:p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Customer reviews and delivery performance provide important indicators of customer satisfaction, while payment and purchasing patterns reveal how and when customers prefer to shop.</a:t>
            </a:r>
          </a:p>
          <a:p>
            <a:pPr indent="0">
              <a:buFont typeface="+mj-lt"/>
              <a:buNone/>
            </a:pPr>
            <a:endParaRPr lang="en-US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r>
              <a:rPr lang="en-US" u="sng" dirty="0">
                <a:solidFill>
                  <a:srgbClr val="FFC000"/>
                </a:solidFill>
                <a:latin typeface="Metropolis Medium" panose="00000600000000000000" pitchFamily="50" charset="0"/>
              </a:rPr>
              <a:t>Conclusion:</a:t>
            </a:r>
          </a:p>
          <a:p>
            <a:pPr indent="0">
              <a:buFont typeface="+mj-lt"/>
              <a:buNone/>
            </a:pPr>
            <a:r>
              <a:rPr lang="en-US" altLang="en-US" u="sng" dirty="0">
                <a:solidFill>
                  <a:schemeClr val="bg1"/>
                </a:solidFill>
                <a:latin typeface="Metropolis Medium" panose="00000600000000000000" pitchFamily="50" charset="0"/>
              </a:rPr>
              <a:t>Improving delivery efficiency and customer satisfaction can strengthen customer experience and support better retention, while purchasing and payment patterns can help optimize sales strategies.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089321" y="2950742"/>
            <a:ext cx="10013358" cy="10918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latin typeface="Metropolis Medium" panose="00000600000000000000" pitchFamily="50" charset="0"/>
              </a:rPr>
              <a:t>DASHBOARD IMAGES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4D0E03-B71D-0182-BFCF-FBF2F0D2D086}"/>
              </a:ext>
            </a:extLst>
          </p:cNvPr>
          <p:cNvSpPr txBox="1"/>
          <p:nvPr/>
        </p:nvSpPr>
        <p:spPr>
          <a:xfrm>
            <a:off x="1302342" y="259975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Excel Dashboard-1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09EEEC-9ED8-C48C-B758-AFB680E8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93" y="962527"/>
            <a:ext cx="10597414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F9545-2490-4630-C975-5AD893F3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2" y="1058781"/>
            <a:ext cx="10712917" cy="51976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6EF4F4-8D99-CE03-8948-DACA8682C550}"/>
              </a:ext>
            </a:extLst>
          </p:cNvPr>
          <p:cNvSpPr txBox="1"/>
          <p:nvPr/>
        </p:nvSpPr>
        <p:spPr>
          <a:xfrm>
            <a:off x="1302342" y="288852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Excel Dashboard-2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E2DD1-0FB4-A160-F373-3E180CE3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8A7E9-7F0F-B953-9BEF-E091B3FE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42" y="1010652"/>
            <a:ext cx="10558913" cy="52746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01315D-352C-2380-4A8E-BD1BBAF0236B}"/>
              </a:ext>
            </a:extLst>
          </p:cNvPr>
          <p:cNvSpPr txBox="1"/>
          <p:nvPr/>
        </p:nvSpPr>
        <p:spPr>
          <a:xfrm>
            <a:off x="1302340" y="282110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Excel Dashboard-3</a:t>
            </a:r>
          </a:p>
        </p:txBody>
      </p:sp>
    </p:spTree>
    <p:extLst>
      <p:ext uri="{BB962C8B-B14F-4D97-AF65-F5344CB8AC3E}">
        <p14:creationId xmlns:p14="http://schemas.microsoft.com/office/powerpoint/2010/main" val="851869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8862E-65C9-6EBE-031C-294EB089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B05293-C329-B1DC-85BB-5B868EB5E314}"/>
              </a:ext>
            </a:extLst>
          </p:cNvPr>
          <p:cNvSpPr txBox="1"/>
          <p:nvPr/>
        </p:nvSpPr>
        <p:spPr>
          <a:xfrm>
            <a:off x="1302340" y="282110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SQL KPI 1&amp;2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64F07-8604-32C6-679E-EB0412846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3" y="1020279"/>
            <a:ext cx="5438274" cy="5370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65BA8-E760-5A3C-176B-1687C67DF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19" y="1020279"/>
            <a:ext cx="5207268" cy="537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17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E972D-064B-E6EC-9017-05B28DB3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2DBD3C-A1F1-2D46-A599-E9D618FB957F}"/>
              </a:ext>
            </a:extLst>
          </p:cNvPr>
          <p:cNvSpPr txBox="1"/>
          <p:nvPr/>
        </p:nvSpPr>
        <p:spPr>
          <a:xfrm>
            <a:off x="1302340" y="282110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SQL KPI 3 &amp;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1FC32-B963-8B83-1305-1653B24FB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85" y="914400"/>
            <a:ext cx="5534526" cy="5728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95038F-8C76-24A7-155E-127933DA2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90" y="914400"/>
            <a:ext cx="5534525" cy="572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44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09478-5B13-9FE3-FA22-7013EA4E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48F558-4D63-9C94-CDE5-6B51B1F8C738}"/>
              </a:ext>
            </a:extLst>
          </p:cNvPr>
          <p:cNvSpPr txBox="1"/>
          <p:nvPr/>
        </p:nvSpPr>
        <p:spPr>
          <a:xfrm>
            <a:off x="1302340" y="282110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SQL KPI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B0EA2-17D3-76FD-BD6E-11A66538A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0" y="952900"/>
            <a:ext cx="10886173" cy="53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88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/>
          <p:nvPr/>
        </p:nvSpPr>
        <p:spPr>
          <a:xfrm>
            <a:off x="1302342" y="107576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000" b="1" dirty="0">
              <a:solidFill>
                <a:srgbClr val="A757FF"/>
              </a:solidFill>
              <a:latin typeface="Metropolis Medium" panose="000006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379604-3716-0C4A-454D-B43870B1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77" y="852945"/>
            <a:ext cx="10579644" cy="562638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319F289-0416-DAC6-A57D-7DD2535B325A}"/>
              </a:ext>
            </a:extLst>
          </p:cNvPr>
          <p:cNvSpPr txBox="1"/>
          <p:nvPr/>
        </p:nvSpPr>
        <p:spPr>
          <a:xfrm>
            <a:off x="1302342" y="228169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Tableau Dashboard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/>
          <p:nvPr/>
        </p:nvSpPr>
        <p:spPr>
          <a:xfrm>
            <a:off x="1302342" y="107576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Power BI Dashboard-1</a:t>
            </a:r>
          </a:p>
        </p:txBody>
      </p:sp>
      <p:pic>
        <p:nvPicPr>
          <p:cNvPr id="2" name="Picture 1" descr="WhatsApp Image 2026-09-09 at 3.35.14 PM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7" y="723900"/>
            <a:ext cx="10564893" cy="5693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/>
          <p:nvPr/>
        </p:nvSpPr>
        <p:spPr>
          <a:xfrm>
            <a:off x="1302340" y="103508"/>
            <a:ext cx="9587315" cy="5041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rgbClr val="FF0000"/>
                </a:solidFill>
                <a:latin typeface="Metropolis Medium" panose="00000600000000000000" pitchFamily="50" charset="0"/>
              </a:rPr>
              <a:t>Power Bi Dashboard-2</a:t>
            </a:r>
            <a:r>
              <a:rPr lang="en-US" sz="3000" b="1" dirty="0">
                <a:solidFill>
                  <a:srgbClr val="A757FF"/>
                </a:solidFill>
                <a:latin typeface="Metropolis Medium" panose="00000600000000000000" pitchFamily="50" charset="0"/>
              </a:rPr>
              <a:t>	</a:t>
            </a:r>
          </a:p>
        </p:txBody>
      </p:sp>
      <p:pic>
        <p:nvPicPr>
          <p:cNvPr id="2" name="Picture 1" descr="WhatsApp Image 2026-09-09 at 3.35.14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2" y="742026"/>
            <a:ext cx="10390909" cy="5718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927459" y="353236"/>
            <a:ext cx="6337074" cy="9221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2908" y="1523935"/>
            <a:ext cx="936617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Strong Sales &amp; Customer Performance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    The platform generated R$16.01M from 99,441 orders, with                      credit cards (78.34%) and weekday purchases (77.26%) dominating transactions. São Paulo and Beauty &amp; Health are major contributors to overall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Delivery Directly Impacts Customer Satisfaction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Although 97.02% of orders were delivered and the average review score was 4.09/5, slower deliveries receive poorer ratings. 1-star orders take ~21 days vs ~11 days for 5-star orders, highlighting delivery optimization as a key improvement area.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D5838-95D2-172D-73A6-AEF41A7B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34304D-686C-A07B-B56C-B25A8C5024C3}"/>
              </a:ext>
            </a:extLst>
          </p:cNvPr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blipFill dpi="0"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D80C8-BA6F-9174-AF3C-3FFD50C9D1AA}"/>
              </a:ext>
            </a:extLst>
          </p:cNvPr>
          <p:cNvSpPr txBox="1"/>
          <p:nvPr/>
        </p:nvSpPr>
        <p:spPr>
          <a:xfrm>
            <a:off x="1858009" y="603317"/>
            <a:ext cx="8475980" cy="9220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41B17-AC9A-7C16-DCFF-1D34AE8006AD}"/>
              </a:ext>
            </a:extLst>
          </p:cNvPr>
          <p:cNvSpPr txBox="1"/>
          <p:nvPr/>
        </p:nvSpPr>
        <p:spPr>
          <a:xfrm>
            <a:off x="1412912" y="1660370"/>
            <a:ext cx="936617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Reduce delivery delays in slower regions through better logistics and route optimization.Faster deliveries can improve customer satisfaction and increase positive reviews.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Invest in popular categories such as Beauty &amp; Health to drive further sales growth.Use targeted promotions and inventory planning based on product demand.</a:t>
            </a:r>
          </a:p>
          <a:p>
            <a:endParaRPr 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Maintain a smooth and secure experience for the widely used credit-card payments.Provide reliable digital payment options to improve customer convenience.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Analyze low-rated orders to identify delivery and service-related problems.Address these issues to improve reviews, loyalty, and customer retention.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bg1"/>
              </a:solidFill>
              <a:latin typeface="Metropolis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6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3311749" y="537653"/>
            <a:ext cx="5568493" cy="9221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2907" y="1690062"/>
            <a:ext cx="936617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The project successfully transformed raw e-commerce data into meaningful business insights using Power BI.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The analysis highlighted key patterns in sales, customers, payments, products, and delivery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The results show strong overall business performance, with 99K+ orders and R$16M+ payment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Delivery time was identified as an important factor influencing customer satisfaction and review scores.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Metropolis Medium" panose="00000600000000000000" pitchFamily="50" charset="0"/>
              </a:rPr>
              <a:t>Overall, the dashboard supports data-driven decision-making and helps businesses identify opportunities for growth and operational improvement.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168109" y="0"/>
            <a:ext cx="1023891" cy="6858000"/>
          </a:xfrm>
          <a:prstGeom prst="triangle">
            <a:avLst>
              <a:gd name="adj" fmla="val 100000"/>
            </a:avLst>
          </a:prstGeom>
          <a:blipFill dpi="0"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8" r="1326"/>
          <a:stretch>
            <a:fillRect/>
          </a:stretch>
        </p:blipFill>
        <p:spPr>
          <a:xfrm>
            <a:off x="-1188720" y="0"/>
            <a:ext cx="13380720" cy="6858000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2072233" y="2443384"/>
            <a:ext cx="8047534" cy="14580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Metropolis Medium" panose="00000600000000000000" pitchFamily="50" charset="0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922619" y="4319796"/>
            <a:ext cx="3269381" cy="2538204"/>
            <a:chOff x="1791" y="4169027"/>
            <a:chExt cx="3800424" cy="2677656"/>
          </a:xfrm>
        </p:grpSpPr>
        <p:sp>
          <p:nvSpPr>
            <p:cNvPr id="7" name="TextBox 6"/>
            <p:cNvSpPr txBox="1"/>
            <p:nvPr/>
          </p:nvSpPr>
          <p:spPr>
            <a:xfrm>
              <a:off x="559283" y="4169027"/>
              <a:ext cx="25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Roboto" panose="02000000000000000000" pitchFamily="2" charset="0"/>
                  <a:ea typeface="Roboto" panose="02000000000000000000" pitchFamily="2" charset="0"/>
                </a:rPr>
                <a:t>Team Members: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91" y="4538359"/>
              <a:ext cx="3800424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Riya Jitendra </a:t>
              </a:r>
              <a:r>
                <a:rPr lang="en-US" dirty="0" err="1"/>
                <a:t>vishwakarma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Nikhil Rohidas Naik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Siddesh </a:t>
              </a:r>
              <a:r>
                <a:rPr lang="en-US" dirty="0" err="1"/>
                <a:t>satish</a:t>
              </a:r>
              <a:r>
                <a:rPr lang="en-US" dirty="0"/>
                <a:t> kadam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 err="1"/>
                <a:t>Medabala</a:t>
              </a:r>
              <a:r>
                <a:rPr lang="en-US" dirty="0"/>
                <a:t> Sujith Kamal Kumar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Akshata P </a:t>
              </a:r>
              <a:r>
                <a:rPr lang="en-US" dirty="0" err="1"/>
                <a:t>sutar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Harshada Arvind </a:t>
              </a:r>
              <a:r>
                <a:rPr lang="en-US" dirty="0" err="1"/>
                <a:t>chavan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 err="1"/>
                <a:t>Tammisetty</a:t>
              </a:r>
              <a:r>
                <a:rPr lang="en-US" dirty="0"/>
                <a:t> Joji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913</Words>
  <Application>Microsoft Office PowerPoint</Application>
  <PresentationFormat>Widescreen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Rounded MT Bold</vt:lpstr>
      <vt:lpstr>Calibri</vt:lpstr>
      <vt:lpstr>Calibri Light</vt:lpstr>
      <vt:lpstr>Metropolis Medium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Rajbhar</dc:creator>
  <cp:lastModifiedBy>suneetha yamarthi</cp:lastModifiedBy>
  <cp:revision>69</cp:revision>
  <dcterms:created xsi:type="dcterms:W3CDTF">2024-06-06T15:36:00Z</dcterms:created>
  <dcterms:modified xsi:type="dcterms:W3CDTF">2026-09-10T07:25:35Z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21875F95579E47CEBC4E8E47FCDE0D6E_13</vt:lpwstr>
  </property>
  <property fmtid="{D5CDD505-2E9C-101B-9397-08002B2CF9AE}" pid="3" name="KSOProductBuildVer">
    <vt:lpwstr>1033-12.1.0.28032</vt:lpwstr>
  </property>
</Properties>
</file>